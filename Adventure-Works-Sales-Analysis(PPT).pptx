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17" r:id="rId5"/>
    <p:sldId id="307" r:id="rId6"/>
    <p:sldId id="318" r:id="rId7"/>
    <p:sldId id="309" r:id="rId8"/>
    <p:sldId id="319" r:id="rId9"/>
    <p:sldId id="320" r:id="rId10"/>
    <p:sldId id="321" r:id="rId11"/>
    <p:sldId id="263" r:id="rId12"/>
    <p:sldId id="322" r:id="rId13"/>
    <p:sldId id="310" r:id="rId14"/>
    <p:sldId id="323" r:id="rId15"/>
    <p:sldId id="324" r:id="rId16"/>
    <p:sldId id="325" r:id="rId17"/>
    <p:sldId id="326" r:id="rId18"/>
    <p:sldId id="327" r:id="rId19"/>
    <p:sldId id="311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0360"/>
    <a:srgbClr val="C0000E"/>
    <a:srgbClr val="16110C"/>
    <a:srgbClr val="636A58"/>
    <a:srgbClr val="505A47"/>
    <a:srgbClr val="D1D8B7"/>
    <a:srgbClr val="A09D79"/>
    <a:srgbClr val="AD5C4D"/>
    <a:srgbClr val="543E35"/>
    <a:srgbClr val="63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405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149D2-553F-D86B-103F-F1D63964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AD850-7E6B-7C79-C4F8-431DBE32C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62611-258D-3E5A-9CE8-F659B6D53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FDE57-0770-AAC2-86BF-8C85608FE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893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13D7-E52D-4554-C46F-2A09C372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6FE9F-E5C1-861D-0F7E-6E6B38718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B16B3-19F0-C1AE-321C-B6E9B2954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420FD-3964-C077-26B0-3F60915D4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50250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F1DD2-32D4-0A2E-AA1A-D21FFF47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22A97-E249-4766-D5EF-4B47D6BE7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825D2-5B21-79E7-10EC-31088BCAE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E25EA-DECF-A39C-B920-108627EB3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4410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74B2-CB8E-63E0-CF5C-E517FCA4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EB166-ED6A-5A91-1690-978618D16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149F9-1AA6-2889-12E1-A6BC9EFF8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E8375-22C7-2AD3-C991-C5AD10AB9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7755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A45D-DFDA-E0FA-F212-E7D7FBC6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AF4A5-25AE-EDEB-BAB8-1D137CEE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718A5-577D-2286-107C-E031116A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A0249-A7CB-10A6-D862-0407E2F00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9938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F9861-C1C3-8AB3-BAF0-DB91816F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9AE1A-2880-ACC1-F8B9-F9F83F61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374EB-CB28-49E1-4BFA-5E552D43A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070C4-D144-2867-CBB7-A644DC375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1330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AF81-8805-541F-E112-92B89A6C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EB191-4572-949E-93C2-45029232F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42919-767B-93DC-A40E-07B9BCB4E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B7548-214E-3923-06B5-BE22156DE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4630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4835C-2702-B836-5D70-A99A2FDD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57AB5-12A3-7C48-2C2B-D1585C10B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B3E40-62F3-73D7-497A-FA69FFCD1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2E046-14CA-5C75-4455-67652A6FE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834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0D5E-AB5F-13E9-75DD-80E091C1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4D6C6-F87C-8A23-A09A-0BE49A7BF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D3447-5D20-D3B1-8C16-42C099A15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24023-0A3D-BD25-3C1A-0AA0D1EFF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1429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b="1" dirty="0">
                <a:solidFill>
                  <a:srgbClr val="C0000E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Adventure Works Sales Analysis Dashboard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17529E-C50F-2CD5-8A2C-018B228FC543}"/>
              </a:ext>
            </a:extLst>
          </p:cNvPr>
          <p:cNvSpPr txBox="1"/>
          <p:nvPr/>
        </p:nvSpPr>
        <p:spPr>
          <a:xfrm>
            <a:off x="1094282" y="3267856"/>
            <a:ext cx="4107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Dataset Information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DD08E-22C7-ED8C-FFC0-09A3C57C9AD0}"/>
              </a:ext>
            </a:extLst>
          </p:cNvPr>
          <p:cNvSpPr txBox="1"/>
          <p:nvPr/>
        </p:nvSpPr>
        <p:spPr>
          <a:xfrm>
            <a:off x="6295869" y="254605"/>
            <a:ext cx="5656287" cy="317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Content:</a:t>
            </a:r>
            <a:endParaRPr lang="en-US" sz="2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Adventure Works</a:t>
            </a:r>
          </a:p>
          <a:p>
            <a:pPr marL="800100" lvl="1" indent="-3429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Customer, Date, Products, Product category, Product subcategory, Sales Table</a:t>
            </a:r>
          </a:p>
          <a:p>
            <a:pPr marL="800100" lvl="1" indent="-3429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period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:(2010-2014)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22CB3-C0CC-E6FA-86A2-0F6FF381A20F}"/>
              </a:ext>
            </a:extLst>
          </p:cNvPr>
          <p:cNvSpPr txBox="1"/>
          <p:nvPr/>
        </p:nvSpPr>
        <p:spPr>
          <a:xfrm>
            <a:off x="6500733" y="3429000"/>
            <a:ext cx="524655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Table Used:</a:t>
            </a:r>
            <a:endParaRPr lang="en-US" sz="2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 Customer</a:t>
            </a:r>
          </a:p>
          <a:p>
            <a:pPr marL="800100" lvl="1" indent="-34290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 Date</a:t>
            </a:r>
          </a:p>
          <a:p>
            <a:pPr marL="800100" lvl="1" indent="-34290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 Product</a:t>
            </a:r>
          </a:p>
          <a:p>
            <a:pPr marL="800100" lvl="1" indent="-34290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 Product category</a:t>
            </a:r>
          </a:p>
          <a:p>
            <a:pPr marL="800100" lvl="1" indent="-34290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 Product sub category</a:t>
            </a:r>
          </a:p>
          <a:p>
            <a:pPr marL="800100" lvl="1" indent="-34290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 Sales territory</a:t>
            </a:r>
          </a:p>
          <a:p>
            <a:pPr marL="800100" lvl="1" indent="-34290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Table(union of fact internet sales and fact internet sales new)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7EFC2A-EF1F-7E07-27D1-280777B61AD4}"/>
              </a:ext>
            </a:extLst>
          </p:cNvPr>
          <p:cNvSpPr txBox="1"/>
          <p:nvPr/>
        </p:nvSpPr>
        <p:spPr>
          <a:xfrm>
            <a:off x="3612630" y="629587"/>
            <a:ext cx="4332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Tools and Technologies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B14A9-D09A-AC09-74CD-CC30D3BCCF7A}"/>
              </a:ext>
            </a:extLst>
          </p:cNvPr>
          <p:cNvSpPr txBox="1"/>
          <p:nvPr/>
        </p:nvSpPr>
        <p:spPr>
          <a:xfrm>
            <a:off x="4167267" y="1152807"/>
            <a:ext cx="4946753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Data cleaning &amp; preprocessing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SQL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Data extraction &amp; querying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Tableau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Visualization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Power BI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Dashboard Creation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Relationship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one to many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85E38-9B01-576F-DF71-D7665ED86868}"/>
              </a:ext>
            </a:extLst>
          </p:cNvPr>
          <p:cNvSpPr txBox="1"/>
          <p:nvPr/>
        </p:nvSpPr>
        <p:spPr>
          <a:xfrm>
            <a:off x="3612630" y="3505759"/>
            <a:ext cx="3882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Overview: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3248C1-6468-6263-A8B5-12D8ADD2BB6E}"/>
              </a:ext>
            </a:extLst>
          </p:cNvPr>
          <p:cNvSpPr txBox="1"/>
          <p:nvPr/>
        </p:nvSpPr>
        <p:spPr>
          <a:xfrm>
            <a:off x="4167267" y="4028979"/>
            <a:ext cx="4946753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analyzes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Adventure Works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</a:p>
          <a:p>
            <a:pPr marL="285750" indent="-28575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Focus on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revenue, profit, and customer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trends </a:t>
            </a:r>
          </a:p>
          <a:p>
            <a:pPr marL="285750" indent="-28575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BI tools </a:t>
            </a:r>
          </a:p>
        </p:txBody>
      </p:sp>
    </p:spTree>
    <p:extLst>
      <p:ext uri="{BB962C8B-B14F-4D97-AF65-F5344CB8AC3E}">
        <p14:creationId xmlns:p14="http://schemas.microsoft.com/office/powerpoint/2010/main" val="221580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398" y="0"/>
            <a:ext cx="7534656" cy="723246"/>
          </a:xfrm>
        </p:spPr>
        <p:txBody>
          <a:bodyPr/>
          <a:lstStyle/>
          <a:p>
            <a:r>
              <a:rPr lang="en-US" sz="2800" b="1" dirty="0"/>
              <a:t>Excel – Data Cleaning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93535" y="723246"/>
            <a:ext cx="5816184" cy="1678288"/>
          </a:xfrm>
        </p:spPr>
        <p:txBody>
          <a:bodyPr/>
          <a:lstStyle/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values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Standardized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formats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(dates, numbers)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and sorting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quick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4AB4B3-55E0-7748-C6F9-2347EED26594}"/>
              </a:ext>
            </a:extLst>
          </p:cNvPr>
          <p:cNvSpPr txBox="1"/>
          <p:nvPr/>
        </p:nvSpPr>
        <p:spPr>
          <a:xfrm>
            <a:off x="1984398" y="2647511"/>
            <a:ext cx="448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6110C"/>
                </a:solidFill>
                <a:latin typeface="+mj-lt"/>
              </a:rPr>
              <a:t>Data Analysis: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6CB1ADB0-55BB-2DF0-9451-008B4782469A}"/>
              </a:ext>
            </a:extLst>
          </p:cNvPr>
          <p:cNvSpPr txBox="1">
            <a:spLocks/>
          </p:cNvSpPr>
          <p:nvPr/>
        </p:nvSpPr>
        <p:spPr>
          <a:xfrm>
            <a:off x="2993535" y="3323401"/>
            <a:ext cx="5816184" cy="2266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 Tables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summarizing data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Applied formulas (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SUM,VLOOKUP/XLOOKUP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fields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insights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Found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over time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197C-5243-9ADF-AD3E-4B10F55B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BA76ACF-55D3-C631-3FFF-7860F9F6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398" y="0"/>
            <a:ext cx="7534656" cy="723246"/>
          </a:xfrm>
        </p:spPr>
        <p:txBody>
          <a:bodyPr/>
          <a:lstStyle/>
          <a:p>
            <a:r>
              <a:rPr lang="en-US" sz="2800" b="1" dirty="0"/>
              <a:t>SQL – Data Extraction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888A14-AA38-DB0A-DC86-CB7F929DDE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93535" y="723246"/>
            <a:ext cx="5816184" cy="167828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Retrieved data using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statements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Filtered data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WHERE conditions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Sorted results using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BY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50000"/>
                </a:schemeClr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75729-6DCA-C404-891D-C3E61A4F0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49AF5E-BF05-ABFC-8A86-B5B349740470}"/>
              </a:ext>
            </a:extLst>
          </p:cNvPr>
          <p:cNvSpPr txBox="1"/>
          <p:nvPr/>
        </p:nvSpPr>
        <p:spPr>
          <a:xfrm>
            <a:off x="1984398" y="2647511"/>
            <a:ext cx="448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6110C"/>
                </a:solidFill>
                <a:latin typeface="+mj-lt"/>
              </a:rPr>
              <a:t>Data Transformation: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3DA73579-55AE-36AF-DD42-01AADBF71C7A}"/>
              </a:ext>
            </a:extLst>
          </p:cNvPr>
          <p:cNvSpPr txBox="1">
            <a:spLocks/>
          </p:cNvSpPr>
          <p:nvPr/>
        </p:nvSpPr>
        <p:spPr>
          <a:xfrm>
            <a:off x="2993535" y="3323401"/>
            <a:ext cx="5816184" cy="22661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JOINS (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INNER, LEFT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combine tables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aggregation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aggregate functions (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SUM,COUNT.AVG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subqueries for deeper analysis</a:t>
            </a:r>
          </a:p>
          <a:p>
            <a:pPr marL="0" indent="0">
              <a:lnSpc>
                <a:spcPct val="150000"/>
              </a:lnSpc>
              <a:buClr>
                <a:srgbClr val="00B050"/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19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4A05-1E4B-9B22-67D0-7DA9862D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5616787-23B8-8F21-7B50-8431755A3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398" y="115646"/>
            <a:ext cx="7534656" cy="723246"/>
          </a:xfrm>
        </p:spPr>
        <p:txBody>
          <a:bodyPr/>
          <a:lstStyle/>
          <a:p>
            <a:r>
              <a:rPr lang="en-US" sz="2800" b="1" dirty="0"/>
              <a:t>Tableau -- Visualization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21A437-E733-5580-28CF-30B8B375F3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93535" y="723246"/>
            <a:ext cx="5816184" cy="167828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charts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(bar, line, tree)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and labels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better understanding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Designed user – friendly dashboards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50000"/>
                </a:schemeClr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E0A2E2-48BE-9BF3-BCD3-48E85DB8D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1712A-A0E3-A250-2E5E-2535E70C3E5D}"/>
              </a:ext>
            </a:extLst>
          </p:cNvPr>
          <p:cNvSpPr txBox="1"/>
          <p:nvPr/>
        </p:nvSpPr>
        <p:spPr>
          <a:xfrm>
            <a:off x="1984398" y="2647511"/>
            <a:ext cx="448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6110C"/>
                </a:solidFill>
                <a:latin typeface="+mj-lt"/>
              </a:rPr>
              <a:t>Dashboard Features: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540A4E5F-8EE8-4CB6-BE5A-C669A5565730}"/>
              </a:ext>
            </a:extLst>
          </p:cNvPr>
          <p:cNvSpPr txBox="1">
            <a:spLocks/>
          </p:cNvSpPr>
          <p:nvPr/>
        </p:nvSpPr>
        <p:spPr>
          <a:xfrm>
            <a:off x="2993535" y="3323401"/>
            <a:ext cx="5816184" cy="22661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Region, Year, Product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actions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interactivity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containers for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 layout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Analyzed trends using time – based charts</a:t>
            </a:r>
          </a:p>
          <a:p>
            <a:pPr marL="0" indent="0">
              <a:lnSpc>
                <a:spcPct val="150000"/>
              </a:lnSpc>
              <a:buClr>
                <a:srgbClr val="00B050"/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585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6FF6-3BE9-DE83-4AA7-7EAB4E7F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41D8793-188E-E722-5F24-7D1717B6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299" y="0"/>
            <a:ext cx="7534656" cy="723246"/>
          </a:xfrm>
        </p:spPr>
        <p:txBody>
          <a:bodyPr/>
          <a:lstStyle/>
          <a:p>
            <a:r>
              <a:rPr lang="en-US" sz="2800" b="1" dirty="0"/>
              <a:t>Power BI – Data Modeling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5BEF15-0086-A359-C853-911D3DA813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93535" y="723246"/>
            <a:ext cx="5816184" cy="167828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Created relationships between tables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Designed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snow flake schema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  <a:p>
            <a:pPr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Used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columns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50000"/>
                </a:schemeClr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3740D3-D052-5FD9-F00F-DC016BA1A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702819-2340-262B-69CB-BE8A5C07CF39}"/>
              </a:ext>
            </a:extLst>
          </p:cNvPr>
          <p:cNvSpPr txBox="1"/>
          <p:nvPr/>
        </p:nvSpPr>
        <p:spPr>
          <a:xfrm>
            <a:off x="2134299" y="2640615"/>
            <a:ext cx="448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6110C"/>
                </a:solidFill>
                <a:latin typeface="+mj-lt"/>
              </a:rPr>
              <a:t>DAX &amp; KPIs: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8327AB93-A004-86D8-75D6-102FF181D5F9}"/>
              </a:ext>
            </a:extLst>
          </p:cNvPr>
          <p:cNvSpPr txBox="1">
            <a:spLocks/>
          </p:cNvSpPr>
          <p:nvPr/>
        </p:nvSpPr>
        <p:spPr>
          <a:xfrm>
            <a:off x="2993534" y="3323401"/>
            <a:ext cx="6000563" cy="3107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measures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DAX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Built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cards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(Sales, Profit, Orders)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intelligence functions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Added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slicers for filtering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Build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visuals</a:t>
            </a:r>
          </a:p>
          <a:p>
            <a:pPr marL="0" indent="0">
              <a:lnSpc>
                <a:spcPct val="150000"/>
              </a:lnSpc>
              <a:buClr>
                <a:srgbClr val="00B050"/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Clr>
                <a:srgbClr val="00B050"/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Clr>
                <a:srgbClr val="00B050"/>
              </a:buCl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91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9B3E8F9-FC6B-2BE0-07D7-F6945FA74D58}"/>
              </a:ext>
            </a:extLst>
          </p:cNvPr>
          <p:cNvSpPr txBox="1"/>
          <p:nvPr/>
        </p:nvSpPr>
        <p:spPr>
          <a:xfrm>
            <a:off x="4002373" y="554636"/>
            <a:ext cx="60935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atin typeface="+mj-lt"/>
                <a:ea typeface="+mj-ea"/>
                <a:cs typeface="+mj-cs"/>
              </a:rPr>
              <a:t>KPI CARDS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E65B4-E1A7-1112-BE74-D225B59A455B}"/>
              </a:ext>
            </a:extLst>
          </p:cNvPr>
          <p:cNvSpPr txBox="1"/>
          <p:nvPr/>
        </p:nvSpPr>
        <p:spPr>
          <a:xfrm>
            <a:off x="3522688" y="1127292"/>
            <a:ext cx="2098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</a:schemeClr>
                </a:solidFill>
                <a:latin typeface="Segoe UI Variable Display Semib" pitchFamily="2" charset="0"/>
              </a:rPr>
              <a:t>Total Sales: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BDA614-ED77-D161-FFA3-695320A33494}"/>
              </a:ext>
            </a:extLst>
          </p:cNvPr>
          <p:cNvSpPr txBox="1"/>
          <p:nvPr/>
        </p:nvSpPr>
        <p:spPr>
          <a:xfrm>
            <a:off x="3886199" y="1808680"/>
            <a:ext cx="5347742" cy="2202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Shows overall </a:t>
            </a:r>
            <a:r>
              <a:rPr lang="en-US" sz="2000" b="1" dirty="0">
                <a:solidFill>
                  <a:srgbClr val="FF0000"/>
                </a:solidFill>
              </a:rPr>
              <a:t>revenue generated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Helps measure business performance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= Sum of all sales amount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Used to </a:t>
            </a:r>
            <a:r>
              <a:rPr lang="en-US" sz="2000" b="1" dirty="0">
                <a:solidFill>
                  <a:srgbClr val="FF0000"/>
                </a:solidFill>
              </a:rPr>
              <a:t>track revenue growth </a:t>
            </a:r>
            <a:r>
              <a:rPr lang="en-US" sz="2000" b="1" dirty="0"/>
              <a:t>over time</a:t>
            </a:r>
            <a:r>
              <a:rPr lang="en-US" sz="2000" dirty="0"/>
              <a:t> ✅ 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endParaRPr lang="en-US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E32848-BB49-F407-1ED1-993DE1893679}"/>
              </a:ext>
            </a:extLst>
          </p:cNvPr>
          <p:cNvSpPr txBox="1"/>
          <p:nvPr/>
        </p:nvSpPr>
        <p:spPr>
          <a:xfrm>
            <a:off x="3522687" y="3756632"/>
            <a:ext cx="2098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</a:schemeClr>
                </a:solidFill>
                <a:latin typeface="Segoe UI Variable Display Semib" pitchFamily="2" charset="0"/>
              </a:rPr>
              <a:t>Total Profit: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54F555-B36E-15E1-C063-3D7C97110E79}"/>
              </a:ext>
            </a:extLst>
          </p:cNvPr>
          <p:cNvSpPr txBox="1"/>
          <p:nvPr/>
        </p:nvSpPr>
        <p:spPr>
          <a:xfrm>
            <a:off x="3886199" y="4294681"/>
            <a:ext cx="5032949" cy="2355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Indicates </a:t>
            </a:r>
            <a:r>
              <a:rPr lang="en-US" sz="2000" b="1" dirty="0">
                <a:solidFill>
                  <a:srgbClr val="FF0000"/>
                </a:solidFill>
              </a:rPr>
              <a:t>profitability after cost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Helps identify </a:t>
            </a:r>
            <a:r>
              <a:rPr lang="en-US" sz="2000" b="1" dirty="0">
                <a:solidFill>
                  <a:srgbClr val="FF0000"/>
                </a:solidFill>
              </a:rPr>
              <a:t>financial health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 = Sales – Cost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Helps in </a:t>
            </a:r>
            <a:r>
              <a:rPr lang="en-US" sz="2000" b="1" dirty="0">
                <a:solidFill>
                  <a:srgbClr val="FF0000"/>
                </a:solidFill>
              </a:rPr>
              <a:t>evaluating cost efficiency </a:t>
            </a:r>
            <a:r>
              <a:rPr lang="en-US" sz="2000" b="1" dirty="0"/>
              <a:t>✅ 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endParaRPr lang="en-US" sz="20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D10B46-878A-E11D-C880-82E75E245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148" y="1650513"/>
            <a:ext cx="2697321" cy="11226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1D981A1-2DEE-7790-0E9A-5E6085490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147" y="4679962"/>
            <a:ext cx="2869039" cy="112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0870D-E5C0-9152-75BC-FCA9A302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509496-4EFA-8DC5-205A-ED9EA88B7FC9}"/>
              </a:ext>
            </a:extLst>
          </p:cNvPr>
          <p:cNvSpPr txBox="1"/>
          <p:nvPr/>
        </p:nvSpPr>
        <p:spPr>
          <a:xfrm>
            <a:off x="3522686" y="311484"/>
            <a:ext cx="2573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</a:schemeClr>
                </a:solidFill>
                <a:latin typeface="Segoe UI Variable Display Semib" pitchFamily="2" charset="0"/>
              </a:rPr>
              <a:t>Total Orders: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9E08A-AA33-CC52-EDF8-85803708A301}"/>
              </a:ext>
            </a:extLst>
          </p:cNvPr>
          <p:cNvSpPr txBox="1"/>
          <p:nvPr/>
        </p:nvSpPr>
        <p:spPr>
          <a:xfrm>
            <a:off x="4006120" y="899356"/>
            <a:ext cx="4766873" cy="312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Represents </a:t>
            </a:r>
            <a:r>
              <a:rPr lang="en-US" sz="2000" b="1" dirty="0">
                <a:solidFill>
                  <a:srgbClr val="C00000"/>
                </a:solidFill>
              </a:rPr>
              <a:t>number of product sold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Useful for </a:t>
            </a:r>
            <a:r>
              <a:rPr lang="en-US" sz="2000" b="1" dirty="0">
                <a:solidFill>
                  <a:srgbClr val="C00000"/>
                </a:solidFill>
              </a:rPr>
              <a:t>demand analysis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Helps identify high-demand products</a:t>
            </a:r>
            <a:r>
              <a:rPr lang="en-US" sz="2000" dirty="0"/>
              <a:t> ✅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 = Count of Order IDs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Clr>
                <a:srgbClr val="850360"/>
              </a:buClr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>
              <a:lnSpc>
                <a:spcPct val="150000"/>
              </a:lnSpc>
              <a:buClr>
                <a:srgbClr val="850360"/>
              </a:buClr>
            </a:pPr>
            <a:r>
              <a:rPr lang="en-US" sz="2000" dirty="0"/>
              <a:t> 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endParaRPr lang="en-US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2BBEB-BC6D-FE2E-C7DB-975E77464403}"/>
              </a:ext>
            </a:extLst>
          </p:cNvPr>
          <p:cNvSpPr txBox="1"/>
          <p:nvPr/>
        </p:nvSpPr>
        <p:spPr>
          <a:xfrm>
            <a:off x="3522685" y="3109742"/>
            <a:ext cx="3117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</a:schemeClr>
                </a:solidFill>
                <a:latin typeface="Segoe UI Variable Display Semib" pitchFamily="2" charset="0"/>
              </a:rPr>
              <a:t>Profit Margin(%):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5F2F4-2994-1DCF-0901-E320BF87F278}"/>
              </a:ext>
            </a:extLst>
          </p:cNvPr>
          <p:cNvSpPr txBox="1"/>
          <p:nvPr/>
        </p:nvSpPr>
        <p:spPr>
          <a:xfrm>
            <a:off x="4006120" y="3785440"/>
            <a:ext cx="5032949" cy="2355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Profitability ratio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Helps compare </a:t>
            </a:r>
            <a:r>
              <a:rPr lang="en-US" sz="2000" b="1" dirty="0">
                <a:solidFill>
                  <a:srgbClr val="C00000"/>
                </a:solidFill>
              </a:rPr>
              <a:t>performance over time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/>
              <a:t>Indicates efficiency of business operations</a:t>
            </a:r>
            <a:r>
              <a:rPr lang="en-US" sz="2000" dirty="0"/>
              <a:t> ✅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 = Profit / Sales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v"/>
            </a:pP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6A0E20-FCFD-E0AF-D7FF-4A3C11C34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069" y="1121732"/>
            <a:ext cx="2379690" cy="1025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9FA84D-6B06-1AF5-A19A-94FEFBEAA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069" y="3685265"/>
            <a:ext cx="2379690" cy="110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88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77" y="194872"/>
            <a:ext cx="10360152" cy="914400"/>
          </a:xfrm>
        </p:spPr>
        <p:txBody>
          <a:bodyPr/>
          <a:lstStyle/>
          <a:p>
            <a:r>
              <a:rPr lang="en-US" b="1" dirty="0"/>
              <a:t>CHARTS EXPLANATION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A1EB08-9DF3-9CD9-CB4C-D197CC8FAE44}"/>
              </a:ext>
            </a:extLst>
          </p:cNvPr>
          <p:cNvSpPr txBox="1"/>
          <p:nvPr/>
        </p:nvSpPr>
        <p:spPr>
          <a:xfrm>
            <a:off x="423472" y="1389526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 Sales (Bar Chart)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0D3C33-E0CE-2305-2D7C-40FC6E6ECCDA}"/>
              </a:ext>
            </a:extLst>
          </p:cNvPr>
          <p:cNvSpPr txBox="1"/>
          <p:nvPr/>
        </p:nvSpPr>
        <p:spPr>
          <a:xfrm>
            <a:off x="1214203" y="1851191"/>
            <a:ext cx="5846164" cy="3740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chart shows the </a:t>
            </a: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across </a:t>
            </a: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years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helps identify </a:t>
            </a: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trends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compare </a:t>
            </a:r>
            <a:r>
              <a:rPr lang="en-US" sz="2000" b="1" dirty="0">
                <a:solidFill>
                  <a:srgbClr val="8503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yearly performance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significantly increased in one particular year (highest bar), indicating strong business growth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Some years show lower sales, which may indicate market or demand fluctuations.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086943-71C2-7EAB-388C-B0DA029D9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441" y="2413417"/>
            <a:ext cx="4253067" cy="292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1ECC9-B019-7099-127B-395624D5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AED2C-3774-AA08-CD20-9D8CF2A4B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13FDC-2F6B-CB13-CD14-4A1ECDA54A70}"/>
              </a:ext>
            </a:extLst>
          </p:cNvPr>
          <p:cNvSpPr txBox="1"/>
          <p:nvPr/>
        </p:nvSpPr>
        <p:spPr>
          <a:xfrm>
            <a:off x="1064301" y="1232035"/>
            <a:ext cx="6093499" cy="420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represents the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of sales across four quarter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(Q1, Q2, Q3, Q4)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identify which quarter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contributes the most total sales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or two quarters contribute higher sales, showing seasonal demand patterns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planning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marketing and sales strategies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“Quarter-wise analysis helps identify seasonal trends and peak business periods.”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887074-14A8-E27B-C57E-7754050395E0}"/>
              </a:ext>
            </a:extLst>
          </p:cNvPr>
          <p:cNvSpPr txBox="1"/>
          <p:nvPr/>
        </p:nvSpPr>
        <p:spPr>
          <a:xfrm>
            <a:off x="378502" y="542356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🟣 Quarter-wise Sales (Pie Chart)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232F7A-E681-C2FF-D8C3-01E29D7D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990" y="2034236"/>
            <a:ext cx="4540518" cy="313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8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17859-1929-E58E-74D9-71DE6A1C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72E415-F824-4DD6-13E2-B00BBECF8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33903-978D-AC6E-D956-CAC83C42EEB0}"/>
              </a:ext>
            </a:extLst>
          </p:cNvPr>
          <p:cNvSpPr txBox="1"/>
          <p:nvPr/>
        </p:nvSpPr>
        <p:spPr>
          <a:xfrm>
            <a:off x="1064301" y="1232034"/>
            <a:ext cx="5277587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shows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across months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identify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growth patterns and fluctuations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a gradual increasing trend over time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months have peak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indicating high demand periods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“Monthly trend analysis help in understanding short– term patterns and forecasting future sales.”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17339-82FD-C0B9-6D80-C9DD9620CE4D}"/>
              </a:ext>
            </a:extLst>
          </p:cNvPr>
          <p:cNvSpPr txBox="1"/>
          <p:nvPr/>
        </p:nvSpPr>
        <p:spPr>
          <a:xfrm>
            <a:off x="337278" y="54820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📈 </a:t>
            </a:r>
            <a:r>
              <a:rPr lang="en-US" sz="2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Month-wise Sales (Line Chart)</a:t>
            </a:r>
            <a:endParaRPr lang="en-US" sz="24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BEA32C-9DD5-A6B2-0249-D004D3DFF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778" y="1607786"/>
            <a:ext cx="5277587" cy="267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1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DAB1E-0433-1314-CC06-3A08621DC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B55C7-A088-3DDB-5958-7642A81FA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B45AB-DC4B-374A-8500-6E6840D9BCFA}"/>
              </a:ext>
            </a:extLst>
          </p:cNvPr>
          <p:cNvSpPr txBox="1"/>
          <p:nvPr/>
        </p:nvSpPr>
        <p:spPr>
          <a:xfrm>
            <a:off x="180405" y="370995"/>
            <a:ext cx="674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📊 Top 10 Product Performance by Sales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EFA69-42F7-120A-7C1E-30171626F222}"/>
              </a:ext>
            </a:extLst>
          </p:cNvPr>
          <p:cNvSpPr txBox="1"/>
          <p:nvPr/>
        </p:nvSpPr>
        <p:spPr>
          <a:xfrm>
            <a:off x="1034322" y="1023078"/>
            <a:ext cx="5411449" cy="4811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displays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top 10 products based on total sales revenue 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helps to identify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best-performing products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business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Products like MOUNTAIN-200 series contribute the highest sales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values are relatively close, showing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product demand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Road series products also contribute significantly to overall revenue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D22504-0457-DCAC-0760-392DB2874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386" y="1787101"/>
            <a:ext cx="4540414" cy="36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88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5EFC9-93D7-18C3-75C8-803F70F48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B2A9CA-CB89-9F7D-C04F-65FF5DA91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9165D-F66E-1BA4-B4CA-04B4C97FDCED}"/>
              </a:ext>
            </a:extLst>
          </p:cNvPr>
          <p:cNvSpPr txBox="1"/>
          <p:nvPr/>
        </p:nvSpPr>
        <p:spPr>
          <a:xfrm>
            <a:off x="180405" y="370995"/>
            <a:ext cx="674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📊 Region Wise Sales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98CCE-503D-E5FC-C927-91EAC66BD512}"/>
              </a:ext>
            </a:extLst>
          </p:cNvPr>
          <p:cNvSpPr txBox="1"/>
          <p:nvPr/>
        </p:nvSpPr>
        <p:spPr>
          <a:xfrm>
            <a:off x="1034322" y="1023078"/>
            <a:ext cx="5411449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shows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across different regions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Australia has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sales contribution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Southwest and Northwest regions also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strongly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regions like Central and Northeast show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low sales 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and low performing regions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Low-performing regions indicate growth opportunities 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D67BC9-3C95-847A-A475-FAD88F410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756" y="1371758"/>
            <a:ext cx="4656058" cy="338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3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955CD-9E63-98A3-37EF-F8ADB13D0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28249A-D5A9-7314-47F8-FDA79352E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12AB0-AC5B-F460-0C9E-0160C8335C4B}"/>
              </a:ext>
            </a:extLst>
          </p:cNvPr>
          <p:cNvSpPr txBox="1"/>
          <p:nvPr/>
        </p:nvSpPr>
        <p:spPr>
          <a:xfrm>
            <a:off x="180404" y="370995"/>
            <a:ext cx="7179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🟣 Filters &amp; Slicers (Dashboard Interactivity)</a:t>
            </a:r>
          </a:p>
          <a:p>
            <a:endParaRPr lang="en-US" sz="24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BC0B62-63F4-4EA5-7FE0-A45BC528A392}"/>
              </a:ext>
            </a:extLst>
          </p:cNvPr>
          <p:cNvSpPr txBox="1"/>
          <p:nvPr/>
        </p:nvSpPr>
        <p:spPr>
          <a:xfrm>
            <a:off x="1064561" y="993098"/>
            <a:ext cx="5306259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and slicers are used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the dashboard interactive 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users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data dynamically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selections 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quick filtering by:               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DB8F7-193F-36CB-F014-3A9437CE0E26}"/>
              </a:ext>
            </a:extLst>
          </p:cNvPr>
          <p:cNvSpPr txBox="1"/>
          <p:nvPr/>
        </p:nvSpPr>
        <p:spPr>
          <a:xfrm>
            <a:off x="2023672" y="3305331"/>
            <a:ext cx="4182256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Year/date </a:t>
            </a:r>
          </a:p>
          <a:p>
            <a:pPr marL="342900" indent="-342900">
              <a:lnSpc>
                <a:spcPct val="150000"/>
              </a:lnSpc>
              <a:buClr>
                <a:srgbClr val="850360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DAD403-57EE-9496-9E36-DA22A1667545}"/>
              </a:ext>
            </a:extLst>
          </p:cNvPr>
          <p:cNvSpPr txBox="1"/>
          <p:nvPr/>
        </p:nvSpPr>
        <p:spPr>
          <a:xfrm>
            <a:off x="1064560" y="4771808"/>
            <a:ext cx="530625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user experience by providing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customized views of data</a:t>
            </a:r>
          </a:p>
          <a:p>
            <a:pPr marL="285750" indent="-285750">
              <a:lnSpc>
                <a:spcPct val="150000"/>
              </a:lnSpc>
              <a:buClr>
                <a:srgbClr val="FB052E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drill-down analysis and better decision -making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808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4B30C-0843-994A-81F7-65B291C7FE05}"/>
              </a:ext>
            </a:extLst>
          </p:cNvPr>
          <p:cNvSpPr txBox="1"/>
          <p:nvPr/>
        </p:nvSpPr>
        <p:spPr>
          <a:xfrm>
            <a:off x="1633927" y="1828800"/>
            <a:ext cx="5591331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analyzed sales data using multiple tools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key trends, top products and high-performing regions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interactive dashboards for better decision-making </a:t>
            </a:r>
          </a:p>
          <a:p>
            <a:pPr marL="285750" indent="-285750">
              <a:lnSpc>
                <a:spcPct val="150000"/>
              </a:lnSpc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Demonstrated end-to-end data analytics workflow</a:t>
            </a: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7344" y="914400"/>
            <a:ext cx="5641848" cy="5029200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tx1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{AAF976CE-7793-4CB5-AEE6-D3DE2BE14BCD}TF1ed9553b-00c4-4092-846a-c8f7f2908f3beecd942f_win32-8e33096c3cfc</Template>
  <TotalTime>389</TotalTime>
  <Words>863</Words>
  <Application>Microsoft Office PowerPoint</Application>
  <PresentationFormat>Widescreen</PresentationFormat>
  <Paragraphs>158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Courier New</vt:lpstr>
      <vt:lpstr>Gill Sans Nova Light</vt:lpstr>
      <vt:lpstr>Sagona Book</vt:lpstr>
      <vt:lpstr>Segoe UI Variable Display Semib</vt:lpstr>
      <vt:lpstr>Wingdings</vt:lpstr>
      <vt:lpstr>Custom</vt:lpstr>
      <vt:lpstr>Adventure Works Sales Analysis Dashboard</vt:lpstr>
      <vt:lpstr>PowerPoint Presentation</vt:lpstr>
      <vt:lpstr>PowerPoint Presentation</vt:lpstr>
      <vt:lpstr>Excel – Data Cleaning</vt:lpstr>
      <vt:lpstr>SQL – Data Extraction</vt:lpstr>
      <vt:lpstr>Tableau -- Visualization</vt:lpstr>
      <vt:lpstr>Power BI – Data Modeling</vt:lpstr>
      <vt:lpstr>PowerPoint Presentation</vt:lpstr>
      <vt:lpstr>PowerPoint Presentation</vt:lpstr>
      <vt:lpstr>CHARTS EXPLANATION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Mohanakrishnan Devaraj</dc:creator>
  <cp:lastModifiedBy>Mohanakrishnan Devaraj</cp:lastModifiedBy>
  <cp:revision>7</cp:revision>
  <dcterms:created xsi:type="dcterms:W3CDTF">2026-04-20T14:33:30Z</dcterms:created>
  <dcterms:modified xsi:type="dcterms:W3CDTF">2026-04-21T10:11:18Z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